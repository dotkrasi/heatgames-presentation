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Urbanist"/>
      <p:regular r:id="rId13"/>
      <p:bold r:id="rId14"/>
      <p:italic r:id="rId15"/>
      <p:boldItalic r:id="rId16"/>
    </p:embeddedFont>
    <p:embeddedFont>
      <p:font typeface="Orbitron"/>
      <p:regular r:id="rId17"/>
      <p:bold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font" Target="fonts/Urbanis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italic.fntdata"/><Relationship Id="rId14" Type="http://schemas.openxmlformats.org/officeDocument/2006/relationships/font" Target="fonts/Urbanist-bold.fntdata"/><Relationship Id="rId17" Type="http://schemas.openxmlformats.org/officeDocument/2006/relationships/font" Target="fonts/Orbitron-regular.fntdata"/><Relationship Id="rId16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Orbitro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644155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HEAT GAMES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787155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Orbitron"/>
                <a:ea typeface="Orbitron"/>
                <a:cs typeface="Orbitron"/>
                <a:sym typeface="Orbitron"/>
              </a:rPr>
              <a:t>ASP.NET MVC Гейминг Платформа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1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1228725"/>
            <a:ext cx="519064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СЪЩНОСТ И ИДЕЯ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34850" y="2064475"/>
            <a:ext cx="4943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„HeatGames“ е съвременно уеб приложение, представляващо комплексна платформа за дигитална дистрибуция и продажба на видеоигри. Проектът не е просто базова платформа за електронна търговия, а предлага на потребителите цялостна екосистема – възможност да разглеждат богат каталог от заглавия, да управляват личен виртуален портфейл, да изграждат собствена дигитална библиотека и да споделят своето мнение чрез система за потребителски ревюта. 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29471" y="2038350"/>
            <a:ext cx="31947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Многослойна архитектура: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Реализация на проекта с добре организирана структура, ясно разделяща слоевете за достъп до данни (Data), бизнес логика (Services) и презентационен слой (Web/Controllers).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168425" y="2038350"/>
            <a:ext cx="36801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Пълни CRUD операции: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Възможност за управление (Create, Read, Update, Delete) на игри, жанрове, платформи и разработчици (Developers).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05300" y="587925"/>
            <a:ext cx="1138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ЦЕЛИ НА ПРОЕКТА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3405200" y="581025"/>
            <a:ext cx="762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508100" y="2038350"/>
            <a:ext cx="3000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Интерактивни потребителски елементи: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Интегриране на пазарска количка (чрез Session), списък с желания (Wishlist) и система за оценяване и ревюта.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943300" y="4134200"/>
            <a:ext cx="3000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Потребителска библиотека (Library):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Симулирано изтегляне на софтуер (.zip архив) и стриктно проследяване на изиграното време (PlayTimeMinutes).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875375" y="4134200"/>
            <a:ext cx="3000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Сигурност и Оторизация: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Внедряване на ASP.NET Core Identity с ясно разграничаване на правата между обикновен потребител (User) и администратор (Admin).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4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771525" y="581025"/>
            <a:ext cx="1138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ОСНОВНИ ЕТАПИ НА РАЗРАБОТКА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2249775" y="574125"/>
            <a:ext cx="762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053350" y="1397250"/>
            <a:ext cx="8085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Оформяне и установяване на концепцията за дигитален гейминг център (hub).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Проектиране и изработване на структурата на релационната база данни.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Създаване на базата данни в MS SQL Server и конфигуриране на връзките.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Внедряване на Dependency Injection за управление на всички сървиси (</a:t>
            </a:r>
            <a:r>
              <a:rPr b="1" lang="en-US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IGameService</a:t>
            </a:r>
            <a:r>
              <a:rPr b="1" lang="en-US">
                <a:solidFill>
                  <a:srgbClr val="CBD5E1"/>
                </a:solidFill>
              </a:rPr>
              <a:t>, </a:t>
            </a:r>
            <a:r>
              <a:rPr b="1" lang="en-US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IOrderService</a:t>
            </a:r>
            <a:r>
              <a:rPr b="1" lang="en-US">
                <a:solidFill>
                  <a:srgbClr val="CBD5E1"/>
                </a:solidFill>
              </a:rPr>
              <a:t>, </a:t>
            </a:r>
            <a:r>
              <a:rPr b="1" lang="en-US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ILibraryService</a:t>
            </a:r>
            <a:r>
              <a:rPr b="1" lang="en-US">
                <a:solidFill>
                  <a:srgbClr val="CBD5E1"/>
                </a:solidFill>
              </a:rPr>
              <a:t>).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Създаване на модерния потребителски интерфейс (UI) и навигационните менюта.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Защита на приложението чрез вградена автентикация и роли.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Сийдване (Seeding) на базата данни с начални платформи, жанрове и игри.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Реализиране на логика за сигурно плащане (PayPal API интеграция).</a:t>
            </a:r>
            <a:endParaRPr b="1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BD5E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Char char="●"/>
            </a:pPr>
            <a:r>
              <a:rPr b="1" lang="en-US">
                <a:solidFill>
                  <a:srgbClr val="CBD5E1"/>
                </a:solidFill>
              </a:rPr>
              <a:t>Публикуване и тестване на проекта.</a:t>
            </a:r>
            <a:endParaRPr b="1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657225" y="0"/>
            <a:ext cx="1138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СТРУКТУРА НА БАЗАТА ДАННИ (диаграма)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279575" y="-6900"/>
            <a:ext cx="762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526488"/>
            <a:ext cx="10658501" cy="622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478163" y="61425"/>
            <a:ext cx="1138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ПОТРЕБИТЕЛСКИ РОЛИ И ДОСТЪП (</a:t>
            </a:r>
            <a:r>
              <a:rPr b="1" lang="en-US" sz="3375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диаграма)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128875" y="54525"/>
            <a:ext cx="762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775" y="661378"/>
            <a:ext cx="7376450" cy="58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1666800" y="2583271"/>
            <a:ext cx="88584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666875" y="3007079"/>
            <a:ext cx="88584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666875" y="3450362"/>
            <a:ext cx="88584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666875" y="4328983"/>
            <a:ext cx="88584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1666875" y="3893653"/>
            <a:ext cx="88584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2449975" y="2260300"/>
            <a:ext cx="55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Visual Studio 2022</a:t>
            </a:r>
            <a:r>
              <a:rPr lang="en-US">
                <a:solidFill>
                  <a:srgbClr val="CBD5E1"/>
                </a:solidFill>
              </a:rPr>
              <a:t> – Основна среда за разработка (IDE).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2449975" y="2677034"/>
            <a:ext cx="77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SSMS &amp; MS SQL Server</a:t>
            </a:r>
            <a:r>
              <a:rPr lang="en-US">
                <a:solidFill>
                  <a:srgbClr val="CBD5E1"/>
                </a:solidFill>
              </a:rPr>
              <a:t> – Управление на релационната база данни.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2449976" y="3125800"/>
            <a:ext cx="850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C# и ASP.NET Core Core MVC</a:t>
            </a:r>
            <a:r>
              <a:rPr lang="en-US">
                <a:solidFill>
                  <a:srgbClr val="CBD5E1"/>
                </a:solidFill>
              </a:rPr>
              <a:t> – Архитектурен модел за разделение на нива (Model-View-Controller).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2449963" y="3541237"/>
            <a:ext cx="77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Entity Framework Core</a:t>
            </a:r>
            <a:r>
              <a:rPr lang="en-US">
                <a:solidFill>
                  <a:srgbClr val="CBD5E1"/>
                </a:solidFill>
              </a:rPr>
              <a:t> – Обектно-релационно картографиране (ORM).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2449975" y="4040283"/>
            <a:ext cx="77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Razor Syntax, HTML5, CSS3</a:t>
            </a:r>
            <a:r>
              <a:rPr lang="en-US">
                <a:solidFill>
                  <a:srgbClr val="CBD5E1"/>
                </a:solidFill>
              </a:rPr>
              <a:t> – Изграждане на презентационния слой (Views).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2449963" y="4469066"/>
            <a:ext cx="77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Bootstrap</a:t>
            </a:r>
            <a:r>
              <a:rPr lang="en-US">
                <a:solidFill>
                  <a:srgbClr val="CBD5E1"/>
                </a:solidFill>
              </a:rPr>
              <a:t> – Интуитивен, модерен и адаптивен (responsive) интерфейс.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810600" y="323950"/>
            <a:ext cx="1138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0B981"/>
                </a:solidFill>
                <a:latin typeface="Orbitron"/>
                <a:ea typeface="Orbitron"/>
                <a:cs typeface="Orbitron"/>
                <a:sym typeface="Orbitron"/>
              </a:rPr>
              <a:t>ИЗПОЛЗВАНИ ТЕХНОЛОГИИ</a:t>
            </a:r>
            <a:endParaRPr b="1" sz="3400">
              <a:solidFill>
                <a:srgbClr val="10B98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51800" y="318850"/>
            <a:ext cx="762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666800" y="4814991"/>
            <a:ext cx="88584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449963" y="4932141"/>
            <a:ext cx="77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JavaScript &amp; jQuery</a:t>
            </a:r>
            <a:r>
              <a:rPr lang="en-US">
                <a:solidFill>
                  <a:srgbClr val="CBD5E1"/>
                </a:solidFill>
              </a:rPr>
              <a:t> – Форми за клиентска валидация и динамични интерфейсни елементи.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2449963" y="5464053"/>
            <a:ext cx="77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</a:rPr>
              <a:t>PayPal REST API / Sandbox</a:t>
            </a:r>
            <a:r>
              <a:rPr lang="en-US">
                <a:solidFill>
                  <a:srgbClr val="CBD5E1"/>
                </a:solidFill>
              </a:rPr>
              <a:t> – Интегрирана разплащателна система. 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1666875" y="5301016"/>
            <a:ext cx="88584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